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you! Quick show of hands. Who used ChatGPT, Gemini, or Claude this week?</a:t>
            </a:r>
          </a:p>
          <a:p>
            <a:r>
              <a:t>Keep it up if you've ever BUILT something with one. That's the gap we close tonight. In</a:t>
            </a:r>
          </a:p>
          <a:p>
            <a:r>
              <a:t>45 minutes, every person here builds a working AI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a chatbot 'does this code work?' and it guesses. An agent runs it and finds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LLM is a brilliant brain in a jar. It can reason but can't touch anything.</a:t>
            </a:r>
          </a:p>
          <a:p>
            <a:r>
              <a:t>Tools give it hands. The loop gives it persistence. It keeps going until the job is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remember one line from tonight, remember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never write the steps. The model plans them. That's what makes it agentic.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LangGraph, CrewAI, agent SDKs: all built on this loop. Tonight we build the loop by</a:t>
            </a:r>
          </a:p>
          <a:p>
            <a:r>
              <a:t>hand so the frameworks stop feeling like magic.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CodeDoctor debugs code like a real developer. Runs it, reads the error, fixes it,</a:t>
            </a:r>
          </a:p>
          <a:p>
            <a:r>
              <a:t>writes tests to prove it, and loops until everything passes.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Green sticky on your laptop lid when done, red if stuck and a helper will come.</a:t>
            </a:r>
          </a:p>
          <a:p>
            <a:r>
              <a:t>Fall behind? The catch-up section at the bottom gets you back in one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sounds sure. But did it run the code? Did it test anything? Would you merge a</a:t>
            </a:r>
          </a:p>
          <a:p>
            <a:r>
              <a:t>pull request nobody ever ran?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model never runs code. It reads these descriptions and asks us to. And notice:</a:t>
            </a:r>
          </a:p>
          <a:p>
            <a:r>
              <a:t>errors come back as text, not crashes. That's what lets the agent read them and fix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slowly. Each time around: send everything to the model. Did it ask for</a:t>
            </a:r>
          </a:p>
          <a:p>
            <a:r>
              <a:t>a tool? No: done. Yes: run it, send back the result, go again. max_steps is a guardrail.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it crashes. Fix that, it crashes again. Fix that, it runs, and says the class</a:t>
            </a:r>
          </a:p>
          <a:p>
            <a:r>
              <a:t>average is 184 out of 100. Running code isn't working code. That's why CodeDoctor writes</a:t>
            </a:r>
          </a:p>
          <a:p>
            <a:r>
              <a:t>tests, and why it's not allowed to claim success until they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Gradio turns any Python function into a web app. One line, public link. Open it on</a:t>
            </a:r>
          </a:p>
          <a:p>
            <a:r>
              <a:t>your phone, paste your own buggy code. Security note: it runs on your machine with your</a:t>
            </a:r>
          </a:p>
          <a:p>
            <a:r>
              <a:t>key, share with friends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where this goes. CodeLens is something I built. Same loop you wrote tonight,</a:t>
            </a:r>
          </a:p>
          <a:p>
            <a:r>
              <a:t>but the tools read and analyze an entire codebase: explain files, find bugs, generate</a:t>
            </a:r>
          </a:p>
          <a:p>
            <a:r>
              <a:t>tests, map the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framework wraps this loop. MCP is a standard way to plug tools in.</a:t>
            </a:r>
          </a:p>
          <a:p>
            <a:r>
              <a:t>Multi-agent? Make run_agent a tool for another agent. Same loop, nothing 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notebook is yours to keep. Fill the feedback form, it really helps. A couple</a:t>
            </a:r>
          </a:p>
          <a:p>
            <a:r>
              <a:t>of minutes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789920" cy="21031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6000" b="1">
                <a:solidFill>
                  <a:srgbClr val="FFFFFF"/>
                </a:solidFill>
                <a:latin typeface="Aptos"/>
              </a:defRPr>
            </a:pPr>
            <a:r>
              <a:t>Build Your First</a:t>
            </a:r>
          </a:p>
          <a:p>
            <a:pPr>
              <a:spcAft>
                <a:spcPts val="1000"/>
              </a:spcAft>
              <a:defRPr sz="6000" b="1">
                <a:solidFill>
                  <a:srgbClr val="FFFFFF"/>
                </a:solidFill>
                <a:latin typeface="Aptos"/>
              </a:defRPr>
            </a:pPr>
            <a:r>
              <a:t>AI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33756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4000" b="0">
                <a:solidFill>
                  <a:srgbClr val="22C55E"/>
                </a:solidFill>
                <a:latin typeface="Aptos"/>
              </a:defRPr>
            </a:pPr>
            <a:r>
              <a:t>CodeDoctor 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303520"/>
            <a:ext cx="82296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800" b="0">
                <a:solidFill>
                  <a:srgbClr val="C8CBD3"/>
                </a:solidFill>
                <a:latin typeface="Aptos"/>
              </a:defRPr>
            </a:pPr>
            <a:r>
              <a:t>Raghav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5000" b="1">
                <a:solidFill>
                  <a:srgbClr val="FFFFFF"/>
                </a:solidFill>
                <a:latin typeface="Aptos"/>
              </a:defRPr>
            </a:pPr>
            <a:r>
              <a:t>A chatbot answers.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71800"/>
            <a:ext cx="1078992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6400" b="1">
                <a:solidFill>
                  <a:srgbClr val="22C55E"/>
                </a:solidFill>
                <a:latin typeface="Aptos"/>
              </a:defRPr>
            </a:pPr>
            <a:r>
              <a:t>An agent acts.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27080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The brain in a jar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377440"/>
            <a:ext cx="3383280" cy="1828800"/>
          </a:xfrm>
          <a:prstGeom prst="roundRect">
            <a:avLst>
              <a:gd name="adj" fmla="val 12000"/>
            </a:avLst>
          </a:prstGeom>
          <a:solidFill>
            <a:srgbClr val="17171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>
                <a:solidFill>
                  <a:srgbClr val="FFFFFF"/>
                </a:solidFill>
                <a:latin typeface="Aptos"/>
              </a:defRPr>
            </a:pPr>
            <a:r>
              <a:t>LLM</a:t>
            </a:r>
          </a:p>
          <a:p>
            <a:pPr algn="ctr">
              <a:defRPr sz="3200">
                <a:solidFill>
                  <a:srgbClr val="FFFFFF"/>
                </a:solidFill>
                <a:latin typeface="Aptos"/>
              </a:defRPr>
            </a:pPr>
            <a:r>
              <a:t>brain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2377440"/>
            <a:ext cx="3383280" cy="1828800"/>
          </a:xfrm>
          <a:prstGeom prst="roundRect">
            <a:avLst>
              <a:gd name="adj" fmla="val 12000"/>
            </a:avLst>
          </a:prstGeom>
          <a:solidFill>
            <a:srgbClr val="17171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>
                <a:solidFill>
                  <a:srgbClr val="FFFFFF"/>
                </a:solidFill>
                <a:latin typeface="Aptos"/>
              </a:defRPr>
            </a:pPr>
            <a:r>
              <a:t>Tools</a:t>
            </a:r>
          </a:p>
          <a:p>
            <a:pPr algn="ctr">
              <a:defRPr sz="3200">
                <a:solidFill>
                  <a:srgbClr val="FFFFFF"/>
                </a:solidFill>
                <a:latin typeface="Aptos"/>
              </a:defRPr>
            </a:pPr>
            <a:r>
              <a:t>hands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2377440"/>
            <a:ext cx="3383280" cy="1828800"/>
          </a:xfrm>
          <a:prstGeom prst="roundRect">
            <a:avLst>
              <a:gd name="adj" fmla="val 12000"/>
            </a:avLst>
          </a:prstGeom>
          <a:solidFill>
            <a:srgbClr val="17171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>
                <a:solidFill>
                  <a:srgbClr val="FFFFFF"/>
                </a:solidFill>
                <a:latin typeface="Aptos"/>
              </a:defRPr>
            </a:pPr>
            <a:r>
              <a:t>Loop</a:t>
            </a:r>
          </a:p>
          <a:p>
            <a:pPr algn="ctr">
              <a:defRPr sz="3200">
                <a:solidFill>
                  <a:srgbClr val="FFFFFF"/>
                </a:solidFill>
                <a:latin typeface="Aptos"/>
              </a:defRPr>
            </a:pPr>
            <a:r>
              <a:t>persistence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06040"/>
            <a:ext cx="11274552" cy="1143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1000"/>
              </a:spcAft>
              <a:defRPr sz="4400" b="1">
                <a:solidFill>
                  <a:srgbClr val="22C55E"/>
                </a:solidFill>
                <a:latin typeface="Aptos"/>
              </a:defRPr>
            </a:pPr>
            <a:r>
              <a:t>Agent = LLM + Tools + Loop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27080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The loop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240280"/>
            <a:ext cx="2377440" cy="960120"/>
          </a:xfrm>
          <a:prstGeom prst="roundRect">
            <a:avLst>
              <a:gd name="adj" fmla="val 12000"/>
            </a:avLst>
          </a:prstGeom>
          <a:solidFill>
            <a:srgbClr val="17171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>
                <a:solidFill>
                  <a:srgbClr val="FFFFFF"/>
                </a:solidFill>
                <a:latin typeface="Aptos"/>
              </a:defRPr>
            </a:pPr>
            <a:r>
              <a:t>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2240280"/>
            <a:ext cx="2377440" cy="960120"/>
          </a:xfrm>
          <a:prstGeom prst="roundRect">
            <a:avLst>
              <a:gd name="adj" fmla="val 12000"/>
            </a:avLst>
          </a:prstGeom>
          <a:solidFill>
            <a:srgbClr val="17171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>
                <a:solidFill>
                  <a:srgbClr val="FFFFFF"/>
                </a:solidFill>
                <a:latin typeface="Aptos"/>
              </a:defRPr>
            </a:pPr>
            <a:r>
              <a:t>Think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240280"/>
            <a:ext cx="2377440" cy="960120"/>
          </a:xfrm>
          <a:prstGeom prst="roundRect">
            <a:avLst>
              <a:gd name="adj" fmla="val 12000"/>
            </a:avLst>
          </a:prstGeom>
          <a:solidFill>
            <a:srgbClr val="17171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>
                <a:solidFill>
                  <a:srgbClr val="FFFFFF"/>
                </a:solidFill>
                <a:latin typeface="Aptos"/>
              </a:defRPr>
            </a:pPr>
            <a:r>
              <a:t>Use a tool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240280"/>
            <a:ext cx="2377440" cy="960120"/>
          </a:xfrm>
          <a:prstGeom prst="roundRect">
            <a:avLst>
              <a:gd name="adj" fmla="val 12000"/>
            </a:avLst>
          </a:prstGeom>
          <a:solidFill>
            <a:srgbClr val="17171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>
                <a:solidFill>
                  <a:srgbClr val="FFFFFF"/>
                </a:solidFill>
                <a:latin typeface="Aptos"/>
              </a:defRPr>
            </a:pPr>
            <a:r>
              <a:t>Read result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54680" y="2587752"/>
            <a:ext cx="274320" cy="22860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5897880" y="2587752"/>
            <a:ext cx="274320" cy="22860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8641080" y="2587752"/>
            <a:ext cx="274320" cy="22860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10012680" y="3337560"/>
            <a:ext cx="228600" cy="594360"/>
          </a:xfrm>
          <a:prstGeom prst="down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663440" y="4069080"/>
            <a:ext cx="5468112" cy="0"/>
          </a:xfrm>
          <a:prstGeom prst="line">
            <a:avLst/>
          </a:prstGeom>
          <a:ln w="2540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Up Arrow 11"/>
          <p:cNvSpPr/>
          <p:nvPr/>
        </p:nvSpPr>
        <p:spPr>
          <a:xfrm>
            <a:off x="4553712" y="3337560"/>
            <a:ext cx="228600" cy="731520"/>
          </a:xfrm>
          <a:prstGeom prst="up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0" y="4846320"/>
            <a:ext cx="2377440" cy="822960"/>
          </a:xfrm>
          <a:prstGeom prst="roundRect">
            <a:avLst>
              <a:gd name="adj" fmla="val 12000"/>
            </a:avLst>
          </a:prstGeom>
          <a:solidFill>
            <a:srgbClr val="17171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>
                <a:solidFill>
                  <a:srgbClr val="FFFFFF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892040"/>
            <a:ext cx="493776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800" b="0">
                <a:solidFill>
                  <a:srgbClr val="C8CBD3"/>
                </a:solidFill>
                <a:latin typeface="Aptos"/>
              </a:defRPr>
            </a:pPr>
            <a:r>
              <a:t>The model decides the steps.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94760" y="3200400"/>
            <a:ext cx="0" cy="1417320"/>
          </a:xfrm>
          <a:prstGeom prst="line">
            <a:avLst/>
          </a:prstGeom>
          <a:ln w="25400">
            <a:solidFill>
              <a:srgbClr val="C8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own Arrow 15"/>
          <p:cNvSpPr/>
          <p:nvPr/>
        </p:nvSpPr>
        <p:spPr>
          <a:xfrm>
            <a:off x="3680460" y="4434840"/>
            <a:ext cx="228600" cy="320040"/>
          </a:xfrm>
          <a:prstGeom prst="down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27080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Buzzwords, decoded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27432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22C55E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920240"/>
            <a:ext cx="758952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200" b="0">
                <a:solidFill>
                  <a:srgbClr val="C8CBD3"/>
                </a:solidFill>
                <a:latin typeface="Aptos"/>
              </a:defRPr>
            </a:pPr>
            <a:r>
              <a:t>You decide the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27432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22C55E"/>
                </a:solidFill>
                <a:latin typeface="Aptos"/>
              </a:defRPr>
            </a:pPr>
            <a:r>
              <a:t>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3063240"/>
            <a:ext cx="758952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200" b="0">
                <a:solidFill>
                  <a:srgbClr val="C8CBD3"/>
                </a:solidFill>
                <a:latin typeface="Aptos"/>
              </a:defRPr>
            </a:pPr>
            <a:r>
              <a:t>The model decides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283464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22C55E"/>
                </a:solidFill>
                <a:latin typeface="Aptos"/>
              </a:defRPr>
            </a:pPr>
            <a:r>
              <a:t>Multi-agent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4206240"/>
            <a:ext cx="758952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200" b="0">
                <a:solidFill>
                  <a:srgbClr val="C8CBD3"/>
                </a:solidFill>
                <a:latin typeface="Aptos"/>
              </a:defRPr>
            </a:pPr>
            <a:r>
              <a:t>Agents delegate to agents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27080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Tonight: CodeDoctor 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57400"/>
            <a:ext cx="3200400" cy="914400"/>
          </a:xfrm>
          <a:prstGeom prst="roundRect">
            <a:avLst>
              <a:gd name="adj" fmla="val 12000"/>
            </a:avLst>
          </a:prstGeom>
          <a:solidFill>
            <a:srgbClr val="17171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>
                <a:solidFill>
                  <a:srgbClr val="FFFFFF"/>
                </a:solidFill>
                <a:latin typeface="Aptos"/>
              </a:defRPr>
            </a:pPr>
            <a:r>
              <a:t>Run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2057400"/>
            <a:ext cx="3200400" cy="914400"/>
          </a:xfrm>
          <a:prstGeom prst="roundRect">
            <a:avLst>
              <a:gd name="adj" fmla="val 12000"/>
            </a:avLst>
          </a:prstGeom>
          <a:solidFill>
            <a:srgbClr val="17171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>
                <a:solidFill>
                  <a:srgbClr val="FFFFFF"/>
                </a:solidFill>
                <a:latin typeface="Aptos"/>
              </a:defRPr>
            </a:pPr>
            <a:r>
              <a:t>Read error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2057400"/>
            <a:ext cx="3200400" cy="914400"/>
          </a:xfrm>
          <a:prstGeom prst="roundRect">
            <a:avLst>
              <a:gd name="adj" fmla="val 12000"/>
            </a:avLst>
          </a:prstGeom>
          <a:solidFill>
            <a:srgbClr val="17171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>
                <a:solidFill>
                  <a:srgbClr val="FFFFFF"/>
                </a:solidFill>
                <a:latin typeface="Aptos"/>
              </a:defRPr>
            </a:pPr>
            <a:r>
              <a:t>Fix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3200400" cy="914400"/>
          </a:xfrm>
          <a:prstGeom prst="roundRect">
            <a:avLst>
              <a:gd name="adj" fmla="val 12000"/>
            </a:avLst>
          </a:prstGeom>
          <a:solidFill>
            <a:srgbClr val="17171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>
                <a:solidFill>
                  <a:srgbClr val="FFFFFF"/>
                </a:solidFill>
                <a:latin typeface="Aptos"/>
              </a:defRPr>
            </a:pPr>
            <a:r>
              <a:t>Run 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4114800"/>
            <a:ext cx="3200400" cy="914400"/>
          </a:xfrm>
          <a:prstGeom prst="roundRect">
            <a:avLst>
              <a:gd name="adj" fmla="val 12000"/>
            </a:avLst>
          </a:prstGeom>
          <a:solidFill>
            <a:srgbClr val="17171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>
                <a:solidFill>
                  <a:srgbClr val="FFFFFF"/>
                </a:solidFill>
                <a:latin typeface="Aptos"/>
              </a:defRPr>
            </a:pPr>
            <a:r>
              <a:t>Write tests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23360" y="2395728"/>
            <a:ext cx="365760" cy="22860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7772400" y="2395728"/>
            <a:ext cx="365760" cy="22860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9692640" y="3108960"/>
            <a:ext cx="228600" cy="731520"/>
          </a:xfrm>
          <a:prstGeom prst="down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eft Arrow 10"/>
          <p:cNvSpPr/>
          <p:nvPr/>
        </p:nvSpPr>
        <p:spPr>
          <a:xfrm>
            <a:off x="9601200" y="4462272"/>
            <a:ext cx="731520" cy="228600"/>
          </a:xfrm>
          <a:prstGeom prst="lef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eft Arrow 11"/>
          <p:cNvSpPr/>
          <p:nvPr/>
        </p:nvSpPr>
        <p:spPr>
          <a:xfrm>
            <a:off x="4251960" y="4462272"/>
            <a:ext cx="1737360" cy="228600"/>
          </a:xfrm>
          <a:prstGeom prst="lef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Up Arrow 12"/>
          <p:cNvSpPr/>
          <p:nvPr/>
        </p:nvSpPr>
        <p:spPr>
          <a:xfrm>
            <a:off x="2194560" y="3108960"/>
            <a:ext cx="228600" cy="731520"/>
          </a:xfrm>
          <a:prstGeom prst="up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715000"/>
            <a:ext cx="1069848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1000"/>
              </a:spcAft>
              <a:defRPr sz="3000" b="0">
                <a:solidFill>
                  <a:srgbClr val="22C55E"/>
                </a:solidFill>
                <a:latin typeface="Aptos"/>
              </a:defRPr>
            </a:pPr>
            <a:r>
              <a:t>Repeat until green 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27080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Setup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743200" cy="2743200"/>
          </a:xfrm>
          <a:prstGeom prst="roundRect">
            <a:avLst>
              <a:gd name="adj" fmla="val 12000"/>
            </a:avLst>
          </a:prstGeom>
          <a:solidFill>
            <a:srgbClr val="17171E"/>
          </a:solidFill>
          <a:ln w="19050">
            <a:solidFill>
              <a:srgbClr val="C8C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>
                <a:solidFill>
                  <a:srgbClr val="FFFFFF"/>
                </a:solidFill>
                <a:latin typeface="Aptos"/>
              </a:defRPr>
            </a:pPr>
            <a:r>
              <a:t>[QR CODE</a:t>
            </a:r>
          </a:p>
          <a:p>
            <a:pPr algn="ctr">
              <a:defRPr sz="2400">
                <a:solidFill>
                  <a:srgbClr val="FFFFFF"/>
                </a:solidFill>
                <a:latin typeface="Aptos"/>
              </a:defRPr>
            </a:pPr>
            <a:r>
              <a:t>PLACEHOLDER]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329184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22C55E"/>
                </a:solidFill>
                <a:latin typeface="Aptos"/>
              </a:defRPr>
            </a:pPr>
            <a:r>
              <a:t>[SHORT_LINK]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874519"/>
            <a:ext cx="7315200" cy="2057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200" b="0">
                <a:solidFill>
                  <a:srgbClr val="FFFFFF"/>
                </a:solidFill>
                <a:latin typeface="Aptos"/>
              </a:defRPr>
            </a:pPr>
            <a:r>
              <a:t>1  Save a copy in Drive</a:t>
            </a:r>
          </a:p>
          <a:p>
            <a:pPr>
              <a:spcAft>
                <a:spcPts val="1000"/>
              </a:spcAft>
              <a:defRPr sz="3200" b="0">
                <a:solidFill>
                  <a:srgbClr val="FFFFFF"/>
                </a:solidFill>
                <a:latin typeface="Aptos"/>
              </a:defRPr>
            </a:pPr>
            <a:r>
              <a:t>2  Paste your key</a:t>
            </a:r>
          </a:p>
          <a:p>
            <a:pPr>
              <a:spcAft>
                <a:spcPts val="1000"/>
              </a:spcAft>
              <a:defRPr sz="3200" b="0">
                <a:solidFill>
                  <a:srgbClr val="FFFFFF"/>
                </a:solidFill>
                <a:latin typeface="Aptos"/>
              </a:defRPr>
            </a:pPr>
            <a:r>
              <a:t>3  Run cell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4297680"/>
            <a:ext cx="731520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800" b="0">
                <a:solidFill>
                  <a:srgbClr val="22C55E"/>
                </a:solidFill>
                <a:latin typeface="Aptos"/>
              </a:defRPr>
            </a:pPr>
            <a:r>
              <a:t>Model ID: [MODEL_ID]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5486400"/>
            <a:ext cx="338328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600" b="0">
                <a:solidFill>
                  <a:srgbClr val="22C55E"/>
                </a:solidFill>
                <a:latin typeface="Aptos"/>
              </a:defRPr>
            </a:pPr>
            <a:r>
              <a:t>Green = 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5486400"/>
            <a:ext cx="338328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600" b="0">
                <a:solidFill>
                  <a:srgbClr val="EF4444"/>
                </a:solidFill>
                <a:latin typeface="Aptos"/>
              </a:defRPr>
            </a:pPr>
            <a:r>
              <a:t>Red = stuck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27080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Stage 1: The brain in a jar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97280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1000"/>
              </a:spcAft>
              <a:defRPr sz="6000" b="1">
                <a:solidFill>
                  <a:srgbClr val="22C55E"/>
                </a:solidFill>
                <a:latin typeface="Aptos"/>
              </a:defRPr>
            </a:pPr>
            <a:r>
              <a:t>Confident ≠ Correct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27080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Stage 2: Giving it hands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60604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17171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>
                <a:solidFill>
                  <a:srgbClr val="FFFFFF"/>
                </a:solidFill>
                <a:latin typeface="Aptos"/>
              </a:defRPr>
            </a:pPr>
            <a:r>
              <a:t>run_code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260604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17171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>
                <a:solidFill>
                  <a:srgbClr val="FFFFFF"/>
                </a:solidFill>
                <a:latin typeface="Aptos"/>
              </a:defRPr>
            </a:pPr>
            <a:r>
              <a:t>save_file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260604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17171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>
                <a:solidFill>
                  <a:srgbClr val="FFFFFF"/>
                </a:solidFill>
                <a:latin typeface="Aptos"/>
              </a:defRPr>
            </a:pPr>
            <a:r>
              <a:t>run_tests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27080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Stage 3: This for-loop IS the agent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965960"/>
            <a:ext cx="10927080" cy="3566160"/>
          </a:xfrm>
          <a:prstGeom prst="roundRect">
            <a:avLst/>
          </a:prstGeom>
          <a:solidFill>
            <a:srgbClr val="171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424160" cy="2834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Consolas"/>
              </a:defRPr>
            </a:pPr>
            <a:r>
              <a:t>for step in range(1, max_steps + 1):</a:t>
            </a:r>
          </a:p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Consolas"/>
              </a:defRPr>
            </a:pPr>
            <a:r>
              <a:t>    ...</a:t>
            </a:r>
          </a:p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Consolas"/>
              </a:defRPr>
            </a:pPr>
            <a:r>
              <a:t>    if not msg.tool_calls: return msg.content</a:t>
            </a:r>
          </a:p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Consolas"/>
              </a:defRPr>
            </a:pPr>
            <a:r>
              <a:t>    ...</a:t>
            </a:r>
          </a:p>
          <a:p>
            <a:pPr>
              <a:spcAft>
                <a:spcPts val="1000"/>
              </a:spcAft>
              <a:defRPr sz="2500" b="0">
                <a:solidFill>
                  <a:srgbClr val="FFFFFF"/>
                </a:solidFill>
                <a:latin typeface="Consolas"/>
              </a:defRPr>
            </a:pPr>
            <a:r>
              <a:t>    result = TOOLS[call.function.name](**args)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27080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Code that runs ≠ Code that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4114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EF4444"/>
                </a:solidFill>
                <a:latin typeface="Aptos"/>
              </a:defRPr>
            </a:pPr>
            <a:r>
              <a:t>Crash bugs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4297680" cy="1828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800" b="0">
                <a:solidFill>
                  <a:srgbClr val="C8CBD3"/>
                </a:solidFill>
                <a:latin typeface="Aptos"/>
              </a:defRPr>
            </a:pPr>
            <a:r>
              <a:t>NameError</a:t>
            </a:r>
          </a:p>
          <a:p>
            <a:pPr>
              <a:spcAft>
                <a:spcPts val="1000"/>
              </a:spcAft>
              <a:defRPr sz="2800" b="0">
                <a:solidFill>
                  <a:srgbClr val="C8CBD3"/>
                </a:solidFill>
                <a:latin typeface="Aptos"/>
              </a:defRPr>
            </a:pPr>
            <a:r>
              <a:t>ZeroDivisionError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828800"/>
            <a:ext cx="59436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EF4444"/>
                </a:solidFill>
                <a:latin typeface="Aptos"/>
              </a:defRPr>
            </a:pPr>
            <a:r>
              <a:t>Logic bugs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743200"/>
            <a:ext cx="603504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700" b="0">
                <a:solidFill>
                  <a:srgbClr val="C8CBD3"/>
                </a:solidFill>
                <a:latin typeface="Aptos"/>
              </a:defRPr>
            </a:pPr>
            <a:r>
              <a:t>Class average: 184.75 / 100</a:t>
            </a:r>
          </a:p>
          <a:p>
            <a:pPr>
              <a:spcAft>
                <a:spcPts val="1000"/>
              </a:spcAft>
              <a:defRPr sz="2700" b="0">
                <a:solidFill>
                  <a:srgbClr val="C8CBD3"/>
                </a:solidFill>
                <a:latin typeface="Aptos"/>
              </a:defRPr>
            </a:pPr>
            <a:r>
              <a:t>Topper = worst student</a:t>
            </a:r>
          </a:p>
          <a:p>
            <a:pPr>
              <a:spcAft>
                <a:spcPts val="1000"/>
              </a:spcAft>
              <a:defRPr sz="2700" b="0">
                <a:solidFill>
                  <a:srgbClr val="C8CBD3"/>
                </a:solidFill>
                <a:latin typeface="Aptos"/>
              </a:defRPr>
            </a:pPr>
            <a:r>
              <a:t>Exactly 70 gets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1000"/>
              </a:spcAft>
              <a:defRPr sz="3200" b="0">
                <a:solidFill>
                  <a:srgbClr val="22C55E"/>
                </a:solidFill>
                <a:latin typeface="Aptos"/>
              </a:defRPr>
            </a:pPr>
            <a:r>
              <a:t>Tests are the agent's proof.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27080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Stage 4: Ship it 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000" b="0">
                <a:solidFill>
                  <a:srgbClr val="C8CBD3"/>
                </a:solidFill>
                <a:latin typeface="Aptos"/>
              </a:defRPr>
            </a:pPr>
            <a:r>
              <a:t>One line: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71800"/>
            <a:ext cx="1069848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4000" b="0">
                <a:solidFill>
                  <a:srgbClr val="22C55E"/>
                </a:solidFill>
                <a:latin typeface="Consolas"/>
              </a:defRPr>
            </a:pPr>
            <a:r>
              <a:t>demo.launch(share=True)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46320"/>
            <a:ext cx="1069848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600" b="0">
                <a:solidFill>
                  <a:srgbClr val="FFFFFF"/>
                </a:solidFill>
                <a:latin typeface="Aptos"/>
              </a:defRPr>
            </a:pPr>
            <a:r>
              <a:t>Open it on your phone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27080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Same loop. Bigger tools.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10698480" cy="3429000"/>
          </a:xfrm>
          <a:prstGeom prst="roundRect">
            <a:avLst>
              <a:gd name="adj" fmla="val 12000"/>
            </a:avLst>
          </a:prstGeom>
          <a:solidFill>
            <a:srgbClr val="17171E"/>
          </a:solidFill>
          <a:ln w="19050">
            <a:solidFill>
              <a:srgbClr val="C8C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>
                <a:solidFill>
                  <a:srgbClr val="FFFFFF"/>
                </a:solidFill>
                <a:latin typeface="Aptos"/>
              </a:defRPr>
            </a:pPr>
            <a:r>
              <a:t>[CODELENS SCREENSHOT PLACEHOLDER]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23560"/>
            <a:ext cx="1069848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2800" b="0">
                <a:solidFill>
                  <a:srgbClr val="22C55E"/>
                </a:solidFill>
                <a:latin typeface="Aptos"/>
              </a:defRPr>
            </a:pPr>
            <a:r>
              <a:t>CodeLens: understand any codebase instantly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27080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Where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74519"/>
            <a:ext cx="1069848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400" b="0">
                <a:solidFill>
                  <a:srgbClr val="FFFFFF"/>
                </a:solidFill>
                <a:latin typeface="Aptos"/>
              </a:defRPr>
            </a:pPr>
            <a:r>
              <a:t>Frameworks wrap the loop</a:t>
            </a:r>
          </a:p>
          <a:p>
            <a:pPr>
              <a:spcAft>
                <a:spcPts val="1000"/>
              </a:spcAft>
              <a:defRPr sz="3400" b="0">
                <a:solidFill>
                  <a:srgbClr val="FFFFFF"/>
                </a:solidFill>
                <a:latin typeface="Aptos"/>
              </a:defRPr>
            </a:pPr>
            <a:r>
              <a:t>MCP connects tools</a:t>
            </a:r>
          </a:p>
          <a:p>
            <a:pPr>
              <a:spcAft>
                <a:spcPts val="1000"/>
              </a:spcAft>
              <a:defRPr sz="3400" b="0">
                <a:solidFill>
                  <a:srgbClr val="FFFFFF"/>
                </a:solidFill>
                <a:latin typeface="Aptos"/>
              </a:defRPr>
            </a:pPr>
            <a:r>
              <a:t>Multi-agent delegates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00600"/>
            <a:ext cx="10698480" cy="1325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2C55E"/>
                </a:solidFill>
                <a:latin typeface="Aptos"/>
              </a:defRPr>
            </a:pPr>
            <a:r>
              <a:t>You already know the core.</a:t>
            </a:r>
          </a:p>
          <a:p>
            <a:pPr>
              <a:spcAft>
                <a:spcPts val="1000"/>
              </a:spcAft>
              <a:defRPr sz="3400" b="1">
                <a:solidFill>
                  <a:srgbClr val="22C55E"/>
                </a:solidFill>
                <a:latin typeface="Aptos"/>
              </a:defRPr>
            </a:pPr>
            <a:r>
              <a:t>Everything else is plumbing.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27080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594360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3000" b="0">
                <a:solidFill>
                  <a:srgbClr val="22C55E"/>
                </a:solidFill>
                <a:latin typeface="Aptos"/>
              </a:defRPr>
            </a:pPr>
            <a:r>
              <a:t>[LINKEDIN]</a:t>
            </a:r>
          </a:p>
          <a:p>
            <a:pPr>
              <a:spcAft>
                <a:spcPts val="1000"/>
              </a:spcAft>
              <a:defRPr sz="3000" b="0">
                <a:solidFill>
                  <a:srgbClr val="22C55E"/>
                </a:solidFill>
                <a:latin typeface="Aptos"/>
              </a:defRPr>
            </a:pPr>
            <a:r>
              <a:t>[GITHUB]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2011680"/>
            <a:ext cx="3200400" cy="3200400"/>
          </a:xfrm>
          <a:prstGeom prst="roundRect">
            <a:avLst>
              <a:gd name="adj" fmla="val 12000"/>
            </a:avLst>
          </a:prstGeom>
          <a:solidFill>
            <a:srgbClr val="17171E"/>
          </a:solidFill>
          <a:ln w="19050">
            <a:solidFill>
              <a:srgbClr val="C8CB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>
                <a:solidFill>
                  <a:srgbClr val="FFFFFF"/>
                </a:solidFill>
                <a:latin typeface="Aptos"/>
              </a:defRPr>
            </a:pPr>
            <a:r>
              <a:t>[FEEDBACK QR</a:t>
            </a:r>
          </a:p>
          <a:p>
            <a:pPr algn="ctr">
              <a:defRPr sz="2400">
                <a:solidFill>
                  <a:srgbClr val="FFFFFF"/>
                </a:solidFill>
                <a:latin typeface="Aptos"/>
              </a:defRPr>
            </a:pPr>
            <a:r>
              <a:t>PLACEHOLDER]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